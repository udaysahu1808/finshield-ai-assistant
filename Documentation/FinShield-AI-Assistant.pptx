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Wingdings 3" panose="05040102010807070707" pitchFamily="18" charset="2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63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087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4845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9133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3780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15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8743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0176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08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1373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466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800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19258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041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347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605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61306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91341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26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6273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21719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FinShield AI Assistant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3106291"/>
            <a:ext cx="6296860" cy="98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Where Machine Learning Meets Financial Intelligence - Your Real-Time Risk, Fraud &amp; Market Copilot.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👨‍💻 Project made &amp; designed by </a:t>
            </a:r>
            <a:r>
              <a:rPr lang="en-US" sz="16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Uday Sahu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233360" y="4524246"/>
            <a:ext cx="935411" cy="251420"/>
          </a:xfrm>
          <a:prstGeom prst="roundRect">
            <a:avLst>
              <a:gd name="adj" fmla="val 22103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573855"/>
            <a:ext cx="134656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FINTECH 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51419" y="4524246"/>
            <a:ext cx="1515528" cy="251420"/>
          </a:xfrm>
          <a:prstGeom prst="roundRect">
            <a:avLst>
              <a:gd name="adj" fmla="val 22103"/>
            </a:avLst>
          </a:prstGeom>
          <a:solidFill>
            <a:srgbClr val="CCEEFF"/>
          </a:solidFill>
          <a:ln/>
        </p:spPr>
      </p:sp>
      <p:sp>
        <p:nvSpPr>
          <p:cNvPr id="8" name="Text 5"/>
          <p:cNvSpPr/>
          <p:nvPr/>
        </p:nvSpPr>
        <p:spPr>
          <a:xfrm>
            <a:off x="6350635" y="4573855"/>
            <a:ext cx="192668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MACHINE LEARNING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49594" y="4524243"/>
            <a:ext cx="1249827" cy="251420"/>
          </a:xfrm>
          <a:prstGeom prst="roundRect">
            <a:avLst>
              <a:gd name="adj" fmla="val 22103"/>
            </a:avLst>
          </a:prstGeom>
          <a:solidFill>
            <a:srgbClr val="CCEEFF"/>
          </a:solidFill>
          <a:ln/>
        </p:spPr>
      </p:sp>
      <p:sp>
        <p:nvSpPr>
          <p:cNvPr id="10" name="Text 7"/>
          <p:cNvSpPr/>
          <p:nvPr/>
        </p:nvSpPr>
        <p:spPr>
          <a:xfrm>
            <a:off x="7948811" y="4552081"/>
            <a:ext cx="166098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EXPLAINABLE 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1509"/>
            <a:ext cx="10868745" cy="42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FinShield AI Assistant Overview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5174" y="894953"/>
            <a:ext cx="10868745" cy="281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An end-to-end ML + Explainable AI platform for financial risk assessment.</a:t>
            </a:r>
            <a:r>
              <a:rPr lang="en-US" sz="15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Turning customer, credit, market, </a:t>
            </a:r>
          </a:p>
          <a:p>
            <a:pPr marL="0" indent="0" algn="l">
              <a:lnSpc>
                <a:spcPct val="119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and sentiment data into a unified 0–1000 FinShield Score.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7715" y="1691320"/>
            <a:ext cx="3785001" cy="4696222"/>
          </a:xfrm>
          <a:prstGeom prst="roundRect">
            <a:avLst>
              <a:gd name="adj" fmla="val 2478"/>
            </a:avLst>
          </a:prstGeom>
          <a:solidFill>
            <a:srgbClr val="1A3A52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7887" y="1793813"/>
            <a:ext cx="3524658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Platform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67449" y="2481858"/>
            <a:ext cx="1185436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60K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76" y="2155366"/>
            <a:ext cx="1445680" cy="14457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7887" y="3736119"/>
            <a:ext cx="3524658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Customers Analyzed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867449" y="4513858"/>
            <a:ext cx="1185436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76" y="4187366"/>
            <a:ext cx="1445680" cy="14457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7887" y="5768119"/>
            <a:ext cx="3524658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Max FinShield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582998" y="1518047"/>
            <a:ext cx="6953473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Core Tech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2998" y="1847056"/>
            <a:ext cx="6953473" cy="80079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1587" y="2149773"/>
            <a:ext cx="195357" cy="1953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25423" y="1996281"/>
            <a:ext cx="6161826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Python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225423" y="2312392"/>
            <a:ext cx="616182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 ML &amp; data pipeline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2998" y="2750344"/>
            <a:ext cx="6953473" cy="80079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1587" y="3053060"/>
            <a:ext cx="195357" cy="1953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25423" y="2899569"/>
            <a:ext cx="6161826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225423" y="3215680"/>
            <a:ext cx="616182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Structured data queries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2998" y="3653631"/>
            <a:ext cx="6953473" cy="800795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1587" y="3956348"/>
            <a:ext cx="195357" cy="19536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25423" y="3802856"/>
            <a:ext cx="6161826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ML Models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225423" y="4118967"/>
            <a:ext cx="616182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Classification &amp;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2998" y="4556919"/>
            <a:ext cx="6953473" cy="800795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61587" y="4859635"/>
            <a:ext cx="195357" cy="19536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25423" y="4706144"/>
            <a:ext cx="6161826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SHAP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5225423" y="5022255"/>
            <a:ext cx="616182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Explainable AI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2998" y="5460206"/>
            <a:ext cx="6953473" cy="800795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1587" y="5762923"/>
            <a:ext cx="195357" cy="19536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25423" y="5609431"/>
            <a:ext cx="6161826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Streamlit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5225423" y="5925542"/>
            <a:ext cx="616182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Interactive UI &amp; chatbot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674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Problem</a:t>
            </a:r>
            <a:r>
              <a:rPr lang="en-US" sz="27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&amp; Objective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227" y="1129605"/>
            <a:ext cx="5463542" cy="5191720"/>
          </a:xfrm>
          <a:prstGeom prst="roundRect">
            <a:avLst>
              <a:gd name="adj" fmla="val 1835"/>
            </a:avLst>
          </a:prstGeom>
          <a:solidFill>
            <a:srgbClr val="1A3A5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235373"/>
            <a:ext cx="5199032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⚠️</a:t>
            </a:r>
            <a:r>
              <a:rPr lang="en-US" sz="13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The Challenge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483" y="1577777"/>
            <a:ext cx="5199032" cy="13842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18576" y="1676995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9787" y="2106910"/>
            <a:ext cx="489642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Manual &amp; Slow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9787" y="2429669"/>
            <a:ext cx="4896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Traditional credit-risk assessment relies on slow, human-driven processes that cannot scale to modern data volumes.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483" y="3067745"/>
            <a:ext cx="5199032" cy="13842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18576" y="3166963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49787" y="3596878"/>
            <a:ext cx="489642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Biased Decisions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49787" y="3919637"/>
            <a:ext cx="4896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Legacy models embed systemic bias, producing unfair outcomes for underrepresented customer segments.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483" y="4557713"/>
            <a:ext cx="5199032" cy="13842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18576" y="4656931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49787" y="5086846"/>
            <a:ext cx="489642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Black Box ML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49787" y="5409605"/>
            <a:ext cx="4896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Existing ML models lack transparency -  regulators and analysts cannot interpret or trust their outputs.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257173" y="1235373"/>
            <a:ext cx="5273047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✅</a:t>
            </a: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Our Objective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57173" y="1577777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Build a </a:t>
            </a:r>
            <a:r>
              <a:rPr lang="en-US" sz="12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transparent, data-driven platform</a:t>
            </a:r>
            <a:r>
              <a:rPr lang="en-US" sz="12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combining six integrated capabilities into one unified intelligence layer: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3131" y="2068612"/>
            <a:ext cx="198433" cy="1984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87077" y="2064544"/>
            <a:ext cx="484314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Credit-Risk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687077" y="2387302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Segment customers into risk tiers with ML precision.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3131" y="2793504"/>
            <a:ext cx="198433" cy="1984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87077" y="2789436"/>
            <a:ext cx="484314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Fraud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687077" y="3112195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Anomaly-based flagging of suspicious profiles.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3131" y="3518396"/>
            <a:ext cx="198433" cy="19843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87077" y="3514328"/>
            <a:ext cx="484314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Market Forecasting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687077" y="3837087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Time-series prediction of economic conditions.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3131" y="4243288"/>
            <a:ext cx="198433" cy="19843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87077" y="4239220"/>
            <a:ext cx="484314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Sentiment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6687077" y="4561979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News &amp; media signal scoring via TF-IDF.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3131" y="4968180"/>
            <a:ext cx="198433" cy="19843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687077" y="4964113"/>
            <a:ext cx="484314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Explainable AI (SHAP)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6687077" y="5286871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Every decision backed by interpretable feature attribution.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3131" y="5693073"/>
            <a:ext cx="198433" cy="19843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687077" y="5689005"/>
            <a:ext cx="484314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Conversational Chatbot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6687077" y="6011763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Natural language decision-support for analysts.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3472"/>
            <a:ext cx="10868745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Pipeline &amp; 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t="20551" b="15045"/>
          <a:stretch>
            <a:fillRect/>
          </a:stretch>
        </p:blipFill>
        <p:spPr>
          <a:xfrm>
            <a:off x="1997710" y="944364"/>
            <a:ext cx="8196580" cy="3519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896346"/>
            <a:ext cx="343427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Part 1 : Data Engineering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1475" y="5241131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9" name="Text 6"/>
          <p:cNvSpPr/>
          <p:nvPr/>
        </p:nvSpPr>
        <p:spPr>
          <a:xfrm>
            <a:off x="800278" y="5177433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Customer profiles &amp; credit history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1475" y="5560616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1" name="Text 8"/>
          <p:cNvSpPr/>
          <p:nvPr/>
        </p:nvSpPr>
        <p:spPr>
          <a:xfrm>
            <a:off x="800278" y="5496917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Market &amp; economic data feeds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1475" y="5880100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3" name="Text 10"/>
          <p:cNvSpPr/>
          <p:nvPr/>
        </p:nvSpPr>
        <p:spPr>
          <a:xfrm>
            <a:off x="800278" y="5816402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News sentiment streams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69952" y="4919720"/>
            <a:ext cx="343427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Part 2 : ML Engine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384466" y="5241131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6" name="Text 13"/>
          <p:cNvSpPr/>
          <p:nvPr/>
        </p:nvSpPr>
        <p:spPr>
          <a:xfrm>
            <a:off x="4508756" y="5200807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Logistic Regression &amp; Random Forest</a:t>
            </a: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risk classification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384466" y="5560616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8" name="Text 15"/>
          <p:cNvSpPr/>
          <p:nvPr/>
        </p:nvSpPr>
        <p:spPr>
          <a:xfrm>
            <a:off x="4508756" y="5520291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Isolation Forest</a:t>
            </a: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fraud 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384466" y="5880100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0" name="Text 17"/>
          <p:cNvSpPr/>
          <p:nvPr/>
        </p:nvSpPr>
        <p:spPr>
          <a:xfrm>
            <a:off x="4508756" y="5839776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ARIMA</a:t>
            </a: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market forecasting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384466" y="6199584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2" name="Text 19"/>
          <p:cNvSpPr/>
          <p:nvPr/>
        </p:nvSpPr>
        <p:spPr>
          <a:xfrm>
            <a:off x="4508756" y="6135886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TF-IDF</a:t>
            </a: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sentiment scoring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107457" y="4896346"/>
            <a:ext cx="343427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Part 3 : Intelligence &amp; Scoring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107457" y="5241131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5" name="Text 22"/>
          <p:cNvSpPr/>
          <p:nvPr/>
        </p:nvSpPr>
        <p:spPr>
          <a:xfrm>
            <a:off x="8246261" y="5177433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Composite </a:t>
            </a:r>
            <a:r>
              <a:rPr lang="en-US" sz="1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FinShield Score (0–1000)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107457" y="5560616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7" name="Text 24"/>
          <p:cNvSpPr/>
          <p:nvPr/>
        </p:nvSpPr>
        <p:spPr>
          <a:xfrm>
            <a:off x="8246261" y="5491092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SHAP explainability layer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107457" y="5880100"/>
            <a:ext cx="57843" cy="57845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9" name="Text 26"/>
          <p:cNvSpPr/>
          <p:nvPr/>
        </p:nvSpPr>
        <p:spPr>
          <a:xfrm>
            <a:off x="8246261" y="5816402"/>
            <a:ext cx="329546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Risk monitoring &amp; AI recommendation engine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8437"/>
            <a:ext cx="10868745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Key Results &amp;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250752"/>
            <a:ext cx="5850684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Risk Distribution — 60,000 Customers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1475" y="1992928"/>
            <a:ext cx="5769327" cy="31393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712222"/>
            <a:ext cx="585068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Medium and high-risk customers together represent </a:t>
            </a:r>
            <a:r>
              <a:rPr lang="en-US" sz="9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over 88%</a:t>
            </a:r>
            <a:r>
              <a:rPr lang="en-US" sz="9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of the portfolio, underscoring the platform's critical role in continuous monitoring.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00878" y="1250752"/>
            <a:ext cx="473559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Model Performance Metrics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11168" y="1589683"/>
            <a:ext cx="3314915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73.4%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00878" y="2090341"/>
            <a:ext cx="473559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Model Accuracy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11168" y="2500213"/>
            <a:ext cx="3314915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0.93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00878" y="3000871"/>
            <a:ext cx="473559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ROC-AUC Score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11168" y="3410744"/>
            <a:ext cx="3314915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8.03%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00878" y="3911402"/>
            <a:ext cx="473559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Loan Default Rate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00878" y="4182368"/>
            <a:ext cx="473559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4,817 customers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11168" y="4559697"/>
            <a:ext cx="3314915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2.0%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00878" y="5060355"/>
            <a:ext cx="4735592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Fraud Flagged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00878" y="5331321"/>
            <a:ext cx="473559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1,200 customers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800878" y="5579864"/>
            <a:ext cx="4735592" cy="518517"/>
          </a:xfrm>
          <a:prstGeom prst="roundRect">
            <a:avLst>
              <a:gd name="adj" fmla="val 9378"/>
            </a:avLst>
          </a:prstGeom>
          <a:solidFill>
            <a:srgbClr val="CCEE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64" y="5709047"/>
            <a:ext cx="144657" cy="11568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6908" y="5681663"/>
            <a:ext cx="424387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~</a:t>
            </a: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66.5%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of model importance is driven by credit score — the single most predictive feature across all risk tiers.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1215"/>
            <a:ext cx="10868745" cy="488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Chatbot Demo &amp; 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94433"/>
            <a:ext cx="525280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Interactive Intelligence - Streamlit Chatbot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872555"/>
            <a:ext cx="525280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FinShield chatbot enables analysts to query any customer's </a:t>
            </a:r>
            <a:r>
              <a:rPr lang="en-US" sz="13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FinShield Score</a:t>
            </a:r>
            <a:r>
              <a:rPr lang="en-US" sz="13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alert level, and recommended actions in plain natural language running fully offline on saved model outputs. No live API dependency required.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28144"/>
            <a:ext cx="5252807" cy="13738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98534" y="3039765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9349" y="3523456"/>
            <a:ext cx="4917059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💬</a:t>
            </a: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"What is Customer #4821's risk level?"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9349" y="3907929"/>
            <a:ext cx="491705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 </a:t>
            </a:r>
            <a:r>
              <a:rPr lang="en-US" sz="13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High-risk. FinShield Score: 312. Recommend credit limit reduction.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35971"/>
            <a:ext cx="5252807" cy="16001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98534" y="4547592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29349" y="5031284"/>
            <a:ext cx="4917059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💬</a:t>
            </a: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"Flag any fraud alerts today?"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29349" y="5415756"/>
            <a:ext cx="491705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 </a:t>
            </a:r>
            <a:r>
              <a:rPr lang="en-US" sz="13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 anomalies detected. Isolation Forest confidence: 94%. Review recommended.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76610" y="1360488"/>
            <a:ext cx="5467114" cy="4826298"/>
          </a:xfrm>
          <a:prstGeom prst="roundRect">
            <a:avLst>
              <a:gd name="adj" fmla="val 2221"/>
            </a:avLst>
          </a:prstGeom>
          <a:solidFill>
            <a:srgbClr val="1A3A52">
              <a:alpha val="95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325434" y="1494433"/>
            <a:ext cx="5169465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The Path Forward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25434" y="1872555"/>
            <a:ext cx="516946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FinShield demonstrates a </a:t>
            </a: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production-ready foundation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transparent, AI-driven financial risk management. Clear future scope includes: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74258" y="2698948"/>
            <a:ext cx="148824" cy="904875"/>
          </a:xfrm>
          <a:prstGeom prst="roundRect">
            <a:avLst>
              <a:gd name="adj" fmla="val 42008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25434" y="2601218"/>
            <a:ext cx="446473" cy="446484"/>
          </a:xfrm>
          <a:prstGeom prst="ellipse">
            <a:avLst/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7052" y="2712839"/>
            <a:ext cx="223237" cy="2232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5849" y="2624534"/>
            <a:ext cx="4589050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Real-Time Data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905849" y="3002657"/>
            <a:ext cx="4589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Live streaming pipelines replacing batch inference for instant risk updates.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697495" y="3961110"/>
            <a:ext cx="148824" cy="904875"/>
          </a:xfrm>
          <a:prstGeom prst="roundRect">
            <a:avLst>
              <a:gd name="adj" fmla="val 42008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48671" y="3863380"/>
            <a:ext cx="446473" cy="446484"/>
          </a:xfrm>
          <a:prstGeom prst="ellipse">
            <a:avLst/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0289" y="3975001"/>
            <a:ext cx="223237" cy="2232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29086" y="3886696"/>
            <a:ext cx="4365813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Generative AI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129086" y="4264819"/>
            <a:ext cx="436581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LLM-powered narrative explanations and proactive risk advisory generation.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325434" y="5016798"/>
            <a:ext cx="5169465" cy="767953"/>
          </a:xfrm>
          <a:prstGeom prst="roundRect">
            <a:avLst>
              <a:gd name="adj" fmla="val 8141"/>
            </a:avLst>
          </a:prstGeom>
          <a:solidFill>
            <a:srgbClr val="00558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4258" y="5222776"/>
            <a:ext cx="186031" cy="1488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09113" y="5174555"/>
            <a:ext cx="45369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FinShield is built to scale — from 60K customers today to enterprise-grade deployment tomorrow.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547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Uday Sahu</dc:creator>
  <cp:lastModifiedBy>Uday Sahu</cp:lastModifiedBy>
  <cp:revision>5</cp:revision>
  <dcterms:created xsi:type="dcterms:W3CDTF">2026-08-10T14:48:47Z</dcterms:created>
  <dcterms:modified xsi:type="dcterms:W3CDTF">2026-08-10T15:11:49Z</dcterms:modified>
</cp:coreProperties>
</file>